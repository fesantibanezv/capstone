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Franklin Gothic"/>
      <p:bold r:id="rId22"/>
    </p:embeddedFont>
    <p:embeddedFont>
      <p:font typeface="Bebas Neue"/>
      <p:regular r:id="rId23"/>
    </p:embeddedFont>
    <p:embeddedFont>
      <p:font typeface="Roboto Condensed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hnDRD10lz56NVTZzffD3VC0eZZ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FranklinGothic-bold.fntdata"/><Relationship Id="rId21" Type="http://schemas.openxmlformats.org/officeDocument/2006/relationships/slide" Target="slides/slide16.xml"/><Relationship Id="rId24" Type="http://schemas.openxmlformats.org/officeDocument/2006/relationships/font" Target="fonts/RobotoCondensed-regular.fntdata"/><Relationship Id="rId23" Type="http://schemas.openxmlformats.org/officeDocument/2006/relationships/font" Target="fonts/BebasNe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Condensed-italic.fntdata"/><Relationship Id="rId25" Type="http://schemas.openxmlformats.org/officeDocument/2006/relationships/font" Target="fonts/RobotoCondensed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Roboto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flipH="1">
            <a:off x="-1" y="0"/>
            <a:ext cx="4629587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" y="11958"/>
            <a:ext cx="4518116" cy="6840855"/>
          </a:xfrm>
          <a:custGeom>
            <a:rect b="b" l="l" r="r" t="t"/>
            <a:pathLst>
              <a:path extrusionOk="0" h="6858000" w="6024154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0123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5284700" y="5620875"/>
            <a:ext cx="36039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4800">
                <a:solidFill>
                  <a:srgbClr val="FFFFFF"/>
                </a:solidFill>
              </a:defRPr>
            </a:lvl2pPr>
            <a:lvl3pPr lvl="2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4800">
                <a:solidFill>
                  <a:srgbClr val="FFFFFF"/>
                </a:solidFill>
              </a:defRPr>
            </a:lvl3pPr>
            <a:lvl4pPr lvl="3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4800">
                <a:solidFill>
                  <a:srgbClr val="FFFFFF"/>
                </a:solidFill>
              </a:defRPr>
            </a:lvl4pPr>
            <a:lvl5pPr lvl="4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4800">
                <a:solidFill>
                  <a:srgbClr val="FFFFFF"/>
                </a:solidFill>
              </a:defRPr>
            </a:lvl5pPr>
            <a:lvl6pPr lvl="5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1" sz="4800">
                <a:solidFill>
                  <a:srgbClr val="FFFFFF"/>
                </a:solidFill>
              </a:defRPr>
            </a:lvl6pPr>
            <a:lvl7pPr lvl="6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b="1" sz="4800">
                <a:solidFill>
                  <a:srgbClr val="FFFFFF"/>
                </a:solidFill>
              </a:defRPr>
            </a:lvl7pPr>
            <a:lvl8pPr lvl="7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b="1" sz="4800">
                <a:solidFill>
                  <a:srgbClr val="FFFFFF"/>
                </a:solidFill>
              </a:defRPr>
            </a:lvl8pPr>
            <a:lvl9pPr lvl="8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b="1"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type="title"/>
          </p:nvPr>
        </p:nvSpPr>
        <p:spPr>
          <a:xfrm>
            <a:off x="3993775" y="24877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9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8" name="Google Shape;18;p19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19" name="Google Shape;19;p19"/>
            <p:cNvPicPr preferRelativeResize="0"/>
            <p:nvPr/>
          </p:nvPicPr>
          <p:blipFill rotWithShape="1">
            <a:blip r:embed="rId3">
              <a:alphaModFix/>
            </a:blip>
            <a:srcRect b="0" l="9870" r="6482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0" name="Google Shape;20;p19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" name="Google Shape;23;p20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0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28" name="Google Shape;28;p20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1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34" name="Google Shape;34;p21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5" name="Google Shape;35;p2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560387" y="2634922"/>
            <a:ext cx="8023225" cy="227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39" name="Google Shape;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92750"/>
            <a:ext cx="275903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560387" y="1632286"/>
            <a:ext cx="8023225" cy="6657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41" name="Google Shape;41;p22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2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2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4" name="Google Shape;44;p22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ólo el título">
  <p:cSld name="1_Sólo el títul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B.png"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60483" y="6287016"/>
            <a:ext cx="1687458" cy="3773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4"/>
          <p:cNvSpPr/>
          <p:nvPr/>
        </p:nvSpPr>
        <p:spPr>
          <a:xfrm>
            <a:off x="586828" y="385379"/>
            <a:ext cx="8084206" cy="700690"/>
          </a:xfrm>
          <a:prstGeom prst="rect">
            <a:avLst/>
          </a:prstGeom>
          <a:solidFill>
            <a:srgbClr val="4A21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4"/>
          <p:cNvSpPr/>
          <p:nvPr/>
        </p:nvSpPr>
        <p:spPr>
          <a:xfrm>
            <a:off x="4117848" y="297797"/>
            <a:ext cx="1156138" cy="166414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4"/>
          <p:cNvSpPr/>
          <p:nvPr/>
        </p:nvSpPr>
        <p:spPr>
          <a:xfrm>
            <a:off x="5264579" y="297797"/>
            <a:ext cx="1156138" cy="166414"/>
          </a:xfrm>
          <a:prstGeom prst="rect">
            <a:avLst/>
          </a:prstGeom>
          <a:solidFill>
            <a:srgbClr val="5A35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4"/>
          <p:cNvSpPr/>
          <p:nvPr/>
        </p:nvSpPr>
        <p:spPr>
          <a:xfrm>
            <a:off x="6411310" y="297797"/>
            <a:ext cx="1156138" cy="166414"/>
          </a:xfrm>
          <a:prstGeom prst="rect">
            <a:avLst/>
          </a:prstGeom>
          <a:solidFill>
            <a:srgbClr val="6D4E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4"/>
          <p:cNvSpPr/>
          <p:nvPr/>
        </p:nvSpPr>
        <p:spPr>
          <a:xfrm>
            <a:off x="7514896" y="297797"/>
            <a:ext cx="1156138" cy="166414"/>
          </a:xfrm>
          <a:prstGeom prst="rect">
            <a:avLst/>
          </a:prstGeom>
          <a:solidFill>
            <a:srgbClr val="7D66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54" name="Google Shape;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28" y="6225296"/>
            <a:ext cx="1992643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2" type="sldNum"/>
          </p:nvPr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17"/>
          <p:cNvSpPr txBox="1"/>
          <p:nvPr>
            <p:ph type="title"/>
          </p:nvPr>
        </p:nvSpPr>
        <p:spPr>
          <a:xfrm>
            <a:off x="1763700" y="212725"/>
            <a:ext cx="67518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title"/>
          </p:nvPr>
        </p:nvSpPr>
        <p:spPr>
          <a:xfrm>
            <a:off x="4148520" y="39669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n-US" sz="4000"/>
            </a:br>
            <a:br>
              <a:rPr lang="en-US" sz="4000"/>
            </a:br>
            <a:r>
              <a:rPr lang="en-US" sz="4000"/>
              <a:t>Fase1 Proyecto APT</a:t>
            </a:r>
            <a:br>
              <a:rPr lang="en-US" sz="4000"/>
            </a:br>
            <a:br>
              <a:rPr lang="en-US" sz="4000"/>
            </a:br>
            <a:br>
              <a:rPr lang="en-US" sz="2000"/>
            </a:br>
            <a:r>
              <a:rPr b="1" lang="en-US" sz="2000"/>
              <a:t>Docente:</a:t>
            </a:r>
            <a:r>
              <a:rPr lang="en-US" sz="2000"/>
              <a:t>Reginaldo Salinas Bruna</a:t>
            </a:r>
            <a:br>
              <a:rPr lang="en-US" sz="2000"/>
            </a:br>
            <a:r>
              <a:rPr lang="en-US" sz="2000"/>
              <a:t>Grupo Nº:</a:t>
            </a:r>
            <a:br>
              <a:rPr lang="en-US" sz="2000"/>
            </a:br>
            <a:r>
              <a:rPr lang="en-US" sz="2000"/>
              <a:t>Integrantes:</a:t>
            </a:r>
            <a:br>
              <a:rPr lang="en-US" sz="2000"/>
            </a:br>
            <a:r>
              <a:rPr lang="en-US" sz="2000"/>
              <a:t>Felipe Santibañez</a:t>
            </a:r>
            <a:br>
              <a:rPr lang="en-US" sz="2000"/>
            </a:b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Descripción breve del proyecto APT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Descripción del proyecto</a:t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-106225" y="1793125"/>
            <a:ext cx="9050400" cy="3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Desarrollo de un sistema web de gestión para organizaciones sin fines de lucro que permita administrar beneficiarios, profesionales, agendas y registros de atención. Incluirá el control de cobros y pagos de las familias y, posteriormente, la gestión de donaciones. La plataforma busca organizar el trabajo y facilitar el seguimiento administrativo y financiero, permitiendo que distintas fundaciones operen con información separada y acceso según el rol de cada usuario.</a:t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Relación con el perfil de egreso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Relación con Perfil</a:t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46800" y="1347025"/>
            <a:ext cx="9050400" cy="50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La relación del proyecto a ejecutar con el perfil de egreso descrito </a:t>
            </a: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está</a:t>
            </a: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en estrecha relación. Como </a:t>
            </a: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áreas</a:t>
            </a: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a desarrollar podemos mencionar las siguientes:</a:t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</a:t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	-Construir software de calidad.</a:t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   -Resolver necesidades de información mediante bases de          datos relacionales.</a:t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   -Aplicar </a:t>
            </a: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ingeniería</a:t>
            </a: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de requisitos para definir la solución.</a:t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   -Evaluar y administrar proyectos con </a:t>
            </a: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métodos</a:t>
            </a: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tradicionales y       ágiles.</a:t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   -</a:t>
            </a: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Diseñar</a:t>
            </a: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software considerando calidad seguridad y sostenibilidad.</a:t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   -Desarrollar soluciones para distintas plataformas.</a:t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Factibilidad del proyecto en la asignatura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Factibilidad del Proyecto</a:t>
            </a:r>
            <a:endParaRPr/>
          </a:p>
        </p:txBody>
      </p:sp>
      <p:sp>
        <p:nvSpPr>
          <p:cNvPr id="93" name="Google Shape;93;p7"/>
          <p:cNvSpPr txBox="1"/>
          <p:nvPr/>
        </p:nvSpPr>
        <p:spPr>
          <a:xfrm>
            <a:off x="246000" y="1196550"/>
            <a:ext cx="8652000" cy="4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Alcance acotado: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gestión de beneficiarios, profesionales, agenda y atenciones.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Financiamiento: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control de pagos familiares y donaciones.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Bajo costo: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uso de tecnologías conocidas y de código abierto.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Plan de trabajo: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desarrollo individual en iteraciones semanales con entregables verificables.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Objetivos del Proyecto</a:t>
            </a:r>
            <a:endParaRPr/>
          </a:p>
        </p:txBody>
      </p:sp>
      <p:sp>
        <p:nvSpPr>
          <p:cNvPr id="104" name="Google Shape;104;p9"/>
          <p:cNvSpPr txBox="1"/>
          <p:nvPr/>
        </p:nvSpPr>
        <p:spPr>
          <a:xfrm>
            <a:off x="402900" y="1764350"/>
            <a:ext cx="8092200" cy="3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• 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Centralizar la información de beneficiarios y profesionales 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• Organizar agendas y registrar atenciones 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• Controlar pagos familiares y donaciones 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• Facilitar el seguimiento administrativo y financiero 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• Proteger los datos mediante permisos y separación por fundación.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Metodologías del Proyecto</a:t>
            </a:r>
            <a:endParaRPr/>
          </a:p>
        </p:txBody>
      </p:sp>
      <p:sp>
        <p:nvSpPr>
          <p:cNvPr id="115" name="Google Shape;115;p11"/>
          <p:cNvSpPr txBox="1"/>
          <p:nvPr/>
        </p:nvSpPr>
        <p:spPr>
          <a:xfrm>
            <a:off x="428350" y="1286100"/>
            <a:ext cx="8092200" cy="5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Desarrollo ágil, incremental e iterativo: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construir el sistema mediante entregas semanales, pruebas y mejoras progresivas.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Kanban: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organizar y priorizar tareas según su estado: pendientes, en desarrollo y terminadas.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Diseño centrado en el usuario: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definir y validar funcionalidades con representantes de la fundación, profesionales y familias.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Plan del Proyecto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453850" y="1266225"/>
            <a:ext cx="8414100" cy="58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Definir requerimientos: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identificar usuarios, necesidades, alcance y funcionalidades prioritarias.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Diseñar la solución: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elaborar arquitectura, modelo de datos, interfaces y permisos de acceso.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Desarrollar por iteraciones: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implementar beneficiarios, profesionales, agenda, atenciones, pagos familiares y donaciones mediante entregas semanales.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Probar y validar: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comprobar funcionalidades, seguridad y separación de datos entre fundaciones, incorporando retroalimentación.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Implementar: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desplegar el sistema y preparar una demostración del funcionamiento.</a:t>
            </a:r>
            <a:endParaRPr b="1"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Evidencias esperadas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04700" y="1569250"/>
            <a:ext cx="7684800" cy="4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Documento de definición del proyecto: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problema, alcance, objetivos y metodología.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Requisitos iniciales: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funcionalidades priorizadas, historias de usuario y criterios de aceptación.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Diseño preliminar: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arquitectura, modelo de datos y prototipos de las principales pantallas.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Plan de trabajo y carta Gantt: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actividades, recursos, responsables y plazos.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Matriz de evidencias: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productos que se presentarán en los avances y en la entrega final.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Tablero Kanban y bitácora inicial:</a:t>
            </a:r>
            <a:r>
              <a:rPr lang="en-US" sz="2400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organización de tareas y registro de decisiones.</a:t>
            </a:r>
            <a:endParaRPr sz="2400">
              <a:solidFill>
                <a:schemeClr val="dk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3004575" y="3476149"/>
            <a:ext cx="5995800" cy="2459429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n-US"/>
            </a:br>
            <a:r>
              <a:rPr lang="en-US"/>
              <a:t>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2020-01-19T17:40:32Z</dcterms:created>
  <dc:creator>Victor Rodrigo Galaz Silva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